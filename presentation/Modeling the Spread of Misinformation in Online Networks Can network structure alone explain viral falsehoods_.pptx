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Barlow ExtraLight"/>
      <p:regular r:id="rId24"/>
      <p:bold r:id="rId25"/>
      <p:italic r:id="rId26"/>
      <p:boldItalic r:id="rId27"/>
    </p:embeddedFont>
    <p:embeddedFont>
      <p:font typeface="Hepta Slab Medium"/>
      <p:regular r:id="rId28"/>
      <p:bold r:id="rId29"/>
    </p:embeddedFont>
    <p:embeddedFont>
      <p:font typeface="Hepta Slab Light"/>
      <p:regular r:id="rId30"/>
      <p:bold r:id="rId31"/>
    </p:embeddedFont>
    <p:embeddedFont>
      <p:font typeface="Hepta Slab"/>
      <p:regular r:id="rId32"/>
      <p:bold r:id="rId33"/>
    </p:embeddedFont>
    <p:embeddedFont>
      <p:font typeface="Barlow Medium"/>
      <p:regular r:id="rId34"/>
      <p:bold r:id="rId35"/>
      <p:italic r:id="rId36"/>
      <p:boldItalic r:id="rId37"/>
    </p:embeddedFont>
    <p:embeddedFont>
      <p:font typeface="Barlow Light"/>
      <p:regular r:id="rId38"/>
      <p:bold r:id="rId39"/>
      <p:italic r:id="rId40"/>
      <p:boldItalic r:id="rId41"/>
    </p:embeddedFont>
    <p:embeddedFont>
      <p:font typeface="Barlow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Light-italic.fntdata"/><Relationship Id="rId20" Type="http://schemas.openxmlformats.org/officeDocument/2006/relationships/slide" Target="slides/slide15.xml"/><Relationship Id="rId42" Type="http://schemas.openxmlformats.org/officeDocument/2006/relationships/font" Target="fonts/Barlow-regular.fntdata"/><Relationship Id="rId41" Type="http://schemas.openxmlformats.org/officeDocument/2006/relationships/font" Target="fonts/BarlowLight-boldItalic.fntdata"/><Relationship Id="rId22" Type="http://schemas.openxmlformats.org/officeDocument/2006/relationships/slide" Target="slides/slide17.xml"/><Relationship Id="rId44" Type="http://schemas.openxmlformats.org/officeDocument/2006/relationships/font" Target="fonts/Barlow-italic.fntdata"/><Relationship Id="rId21" Type="http://schemas.openxmlformats.org/officeDocument/2006/relationships/slide" Target="slides/slide16.xml"/><Relationship Id="rId43" Type="http://schemas.openxmlformats.org/officeDocument/2006/relationships/font" Target="fonts/Barlow-bold.fntdata"/><Relationship Id="rId24" Type="http://schemas.openxmlformats.org/officeDocument/2006/relationships/font" Target="fonts/BarlowExtraLight-regular.fntdata"/><Relationship Id="rId23" Type="http://schemas.openxmlformats.org/officeDocument/2006/relationships/slide" Target="slides/slide18.xml"/><Relationship Id="rId45" Type="http://schemas.openxmlformats.org/officeDocument/2006/relationships/font" Target="fonts/Barlow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ExtraLight-italic.fntdata"/><Relationship Id="rId25" Type="http://schemas.openxmlformats.org/officeDocument/2006/relationships/font" Target="fonts/BarlowExtraLight-bold.fntdata"/><Relationship Id="rId28" Type="http://schemas.openxmlformats.org/officeDocument/2006/relationships/font" Target="fonts/HeptaSlabMedium-regular.fntdata"/><Relationship Id="rId27" Type="http://schemas.openxmlformats.org/officeDocument/2006/relationships/font" Target="fonts/BarlowExtra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ptaSlab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ptaSlabLight-bold.fntdata"/><Relationship Id="rId30" Type="http://schemas.openxmlformats.org/officeDocument/2006/relationships/font" Target="fonts/HeptaSlabLight-regular.fntdata"/><Relationship Id="rId11" Type="http://schemas.openxmlformats.org/officeDocument/2006/relationships/slide" Target="slides/slide6.xml"/><Relationship Id="rId33" Type="http://schemas.openxmlformats.org/officeDocument/2006/relationships/font" Target="fonts/HeptaSlab-bold.fntdata"/><Relationship Id="rId10" Type="http://schemas.openxmlformats.org/officeDocument/2006/relationships/slide" Target="slides/slide5.xml"/><Relationship Id="rId32" Type="http://schemas.openxmlformats.org/officeDocument/2006/relationships/font" Target="fonts/HeptaSlab-regular.fntdata"/><Relationship Id="rId13" Type="http://schemas.openxmlformats.org/officeDocument/2006/relationships/slide" Target="slides/slide8.xml"/><Relationship Id="rId35" Type="http://schemas.openxmlformats.org/officeDocument/2006/relationships/font" Target="fonts/BarlowMedium-bold.fntdata"/><Relationship Id="rId12" Type="http://schemas.openxmlformats.org/officeDocument/2006/relationships/slide" Target="slides/slide7.xml"/><Relationship Id="rId34" Type="http://schemas.openxmlformats.org/officeDocument/2006/relationships/font" Target="fonts/BarlowMedium-regular.fntdata"/><Relationship Id="rId15" Type="http://schemas.openxmlformats.org/officeDocument/2006/relationships/slide" Target="slides/slide10.xml"/><Relationship Id="rId37" Type="http://schemas.openxmlformats.org/officeDocument/2006/relationships/font" Target="fonts/Barlow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BarlowMedium-italic.fntdata"/><Relationship Id="rId17" Type="http://schemas.openxmlformats.org/officeDocument/2006/relationships/slide" Target="slides/slide12.xml"/><Relationship Id="rId39" Type="http://schemas.openxmlformats.org/officeDocument/2006/relationships/font" Target="fonts/BarlowLight-bold.fntdata"/><Relationship Id="rId16" Type="http://schemas.openxmlformats.org/officeDocument/2006/relationships/slide" Target="slides/slide11.xml"/><Relationship Id="rId38" Type="http://schemas.openxmlformats.org/officeDocument/2006/relationships/font" Target="fonts/Barlow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cdc611f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cdc611f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cdc611f56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cdc611f56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 project focuses on the existence of tipping points and structural differences.”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cdc611f56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cdc611f5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“Giveing hypothesis that within a tipping point,”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tipping point is the minimum sharing rate required for misinformation to transition from “localized dissemination” to “full-scale viral spread.” Once this threshold is exceeded, the spread exhibits non-linear, explosive growth.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cdc611f56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cdc611f56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cdc611f56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cdc611f56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cdc611f56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cdc611f56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“These two models match typical online platforms: BA for influencer networks, ER for uniform communities.”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“ER networks represent decentralized communities where everyone has similar influence, so misinformation spreads only when p is large.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BA networks represent social media with powerful hubs, making even small probabilities enough to trigger viral cascades.”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ER network serves as a </a:t>
            </a:r>
            <a:r>
              <a:rPr i="1" lang="en">
                <a:solidFill>
                  <a:schemeClr val="dk1"/>
                </a:solidFill>
              </a:rPr>
              <a:t>baseline model</a:t>
            </a:r>
            <a:r>
              <a:rPr lang="en">
                <a:solidFill>
                  <a:schemeClr val="dk1"/>
                </a:solidFill>
              </a:rPr>
              <a:t> for misinformation spread without influential nodes.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 networks have a </a:t>
            </a:r>
            <a:r>
              <a:rPr b="1" lang="en">
                <a:solidFill>
                  <a:schemeClr val="dk1"/>
                </a:solidFill>
              </a:rPr>
              <a:t>much lower tipping point</a:t>
            </a:r>
            <a:r>
              <a:rPr lang="en">
                <a:solidFill>
                  <a:schemeClr val="dk1"/>
                </a:solidFill>
              </a:rPr>
              <a:t>, meaning even small p values can trigger large-scale viral cascades.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cdc611f56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cdc611f56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cdc611f56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cdc611f56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defines the boundary between local spread and viral cascade.”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Misinformation becomes </a:t>
            </a:r>
            <a:r>
              <a:rPr i="1" lang="en">
                <a:solidFill>
                  <a:schemeClr val="dk1"/>
                </a:solidFill>
              </a:rPr>
              <a:t>network-wide</a:t>
            </a:r>
            <a:r>
              <a:rPr lang="en">
                <a:solidFill>
                  <a:schemeClr val="dk1"/>
                </a:solidFill>
              </a:rPr>
              <a:t> once ≥80% of nodes adopt in 10 rounds.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cdc611f56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cdc611f56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cdc611f56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cdc611f56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cdc611f56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acdc611f56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cdc611f56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acdc611f56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cdc611f56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acdc611f56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cdc611f56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cdc611f56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Benchmarking against reputable open-source misinformation simulators shows that my model behaves consistently with known diffusion tools.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cdc611f56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cdc611f56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These limitations keep the model clean but also highlight where reality can introduce noise and complexity.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cdc611f56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cdc611f56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These expansions will bring the model much closer to real misinformation dynamics, especially with algorithmic amplification.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cdc611f56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cdc611f56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In conclusion, misinformation becomes viral not because of content alone,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but because networks contain structural tipping points that make viral falsehoods inevitable once p exceeds pₜ.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cdc611f56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cdc611f56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pnas.org/doi/10.1073/pnas.082090499" TargetMode="External"/><Relationship Id="rId4" Type="http://schemas.openxmlformats.org/officeDocument/2006/relationships/hyperlink" Target="https://www.pnas.org/doi/10.1073/pnas.082090499" TargetMode="External"/><Relationship Id="rId9" Type="http://schemas.openxmlformats.org/officeDocument/2006/relationships/hyperlink" Target="https://github.com/FraLotito/fakenews_simulator" TargetMode="External"/><Relationship Id="rId5" Type="http://schemas.openxmlformats.org/officeDocument/2006/relationships/hyperlink" Target="https://www.pnas.org/doi/10.1073/pnas.082090499?utm_source=chatgpt.com" TargetMode="External"/><Relationship Id="rId6" Type="http://schemas.openxmlformats.org/officeDocument/2006/relationships/hyperlink" Target="https://www.science.org/doi/10.1126/science.1185231" TargetMode="External"/><Relationship Id="rId7" Type="http://schemas.openxmlformats.org/officeDocument/2006/relationships/hyperlink" Target="https://www.science.org/doi/10.1126/science.1185231" TargetMode="External"/><Relationship Id="rId8" Type="http://schemas.openxmlformats.org/officeDocument/2006/relationships/hyperlink" Target="https://github.com/FraLotito/fakenews_simulator" TargetMode="External"/><Relationship Id="rId11" Type="http://schemas.openxmlformats.org/officeDocument/2006/relationships/hyperlink" Target="https://github.com/kymry/Fake-News-Network-Modeling" TargetMode="External"/><Relationship Id="rId10" Type="http://schemas.openxmlformats.org/officeDocument/2006/relationships/hyperlink" Target="https://github.com/kymry/Fake-News-Network-Modeling" TargetMode="External"/><Relationship Id="rId12" Type="http://schemas.openxmlformats.org/officeDocument/2006/relationships/hyperlink" Target="https://github.com/kymry/Fake-News-Network-Model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0" y="1124700"/>
            <a:ext cx="89502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100">
                <a:latin typeface="Hepta Slab Medium"/>
                <a:ea typeface="Hepta Slab Medium"/>
                <a:cs typeface="Hepta Slab Medium"/>
                <a:sym typeface="Hepta Slab Medium"/>
              </a:rPr>
              <a:t>Modeling the Spread of Misinformation in Online Networks</a:t>
            </a:r>
            <a:endParaRPr sz="2100"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100">
                <a:latin typeface="Hepta Slab Medium"/>
                <a:ea typeface="Hepta Slab Medium"/>
                <a:cs typeface="Hepta Slab Medium"/>
                <a:sym typeface="Hepta Slab Medium"/>
              </a:rPr>
              <a:t>Can network structure </a:t>
            </a:r>
            <a:r>
              <a:rPr lang="en" sz="2100">
                <a:latin typeface="Hepta Slab Medium"/>
                <a:ea typeface="Hepta Slab Medium"/>
                <a:cs typeface="Hepta Slab Medium"/>
                <a:sym typeface="Hepta Slab Medium"/>
              </a:rPr>
              <a:t>alone explain</a:t>
            </a:r>
            <a:r>
              <a:rPr lang="en" sz="2100">
                <a:latin typeface="Hepta Slab Medium"/>
                <a:ea typeface="Hepta Slab Medium"/>
                <a:cs typeface="Hepta Slab Medium"/>
                <a:sym typeface="Hepta Slab Medium"/>
              </a:rPr>
              <a:t> viral falsehoods?</a:t>
            </a:r>
            <a:endParaRPr sz="2100"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27" name="Google Shape;327;p47"/>
          <p:cNvSpPr txBox="1"/>
          <p:nvPr>
            <p:ph idx="1" type="body"/>
          </p:nvPr>
        </p:nvSpPr>
        <p:spPr>
          <a:xfrm>
            <a:off x="2817175" y="4236450"/>
            <a:ext cx="3123900" cy="3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Department of Computer Science</a:t>
            </a:r>
            <a:endParaRPr sz="1500"/>
          </a:p>
        </p:txBody>
      </p:sp>
      <p:sp>
        <p:nvSpPr>
          <p:cNvPr id="328" name="Google Shape;328;p47"/>
          <p:cNvSpPr txBox="1"/>
          <p:nvPr>
            <p:ph idx="2" type="subTitle"/>
          </p:nvPr>
        </p:nvSpPr>
        <p:spPr>
          <a:xfrm>
            <a:off x="1774950" y="2941350"/>
            <a:ext cx="55941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Gordon Zou</a:t>
            </a:r>
            <a:endParaRPr sz="1800">
              <a:solidFill>
                <a:schemeClr val="dk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Social Networks Final Project — Fall 2025</a:t>
            </a:r>
            <a:endParaRPr sz="1800">
              <a:solidFill>
                <a:schemeClr val="dk1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0F6FC"/>
                </a:solidFill>
                <a:highlight>
                  <a:srgbClr val="0D1117"/>
                </a:highlight>
                <a:latin typeface="Hepta Slab"/>
                <a:ea typeface="Hepta Slab"/>
                <a:cs typeface="Hepta Slab"/>
                <a:sym typeface="Hepta Slab"/>
              </a:rPr>
              <a:t>Does misinformation diffusion exhibit a nonlinear tipping point</a:t>
            </a:r>
            <a:endParaRPr sz="2500">
              <a:solidFill>
                <a:srgbClr val="F0F6FC"/>
              </a:solidFill>
              <a:highlight>
                <a:srgbClr val="0D1117"/>
              </a:highlight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0F6FC"/>
                </a:solidFill>
                <a:highlight>
                  <a:srgbClr val="0D1117"/>
                </a:highlight>
                <a:latin typeface="Hepta Slab"/>
                <a:ea typeface="Hepta Slab"/>
                <a:cs typeface="Hepta Slab"/>
                <a:sym typeface="Hepta Slab"/>
              </a:rPr>
              <a:t>and how do different network structures influence it?</a:t>
            </a:r>
            <a:endParaRPr sz="25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34" name="Google Shape;33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Question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type="title"/>
          </p:nvPr>
        </p:nvSpPr>
        <p:spPr>
          <a:xfrm>
            <a:off x="311700" y="206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Hypothesis</a:t>
            </a:r>
            <a:endParaRPr sz="2000"/>
          </a:p>
        </p:txBody>
      </p:sp>
      <p:sp>
        <p:nvSpPr>
          <p:cNvPr id="340" name="Google Shape;340;p4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Misinformation in online networks exhibits a </a:t>
            </a: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tipping-point dynamic</a:t>
            </a: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—when a small but critical fraction of </a:t>
            </a: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users begin sharing false content</a:t>
            </a: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, diffusion accelerates nonlinearly, reaching most of the network.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Why might this happen?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Influencers amplify exposure</a:t>
            </a:r>
            <a:br>
              <a:rPr lang="en" sz="1600">
                <a:latin typeface="Hepta Slab"/>
                <a:ea typeface="Hepta Slab"/>
                <a:cs typeface="Hepta Slab"/>
                <a:sym typeface="Hepta Slab"/>
              </a:rPr>
            </a:b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Online networks contain tight communities</a:t>
            </a:r>
            <a:br>
              <a:rPr lang="en" sz="1600">
                <a:latin typeface="Hepta Slab"/>
                <a:ea typeface="Hepta Slab"/>
                <a:cs typeface="Hepta Slab"/>
                <a:sym typeface="Hepta Slab"/>
              </a:rPr>
            </a:b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Complex contagion → threshold effects</a:t>
            </a:r>
            <a:br>
              <a:rPr lang="en" sz="1600">
                <a:latin typeface="Hepta Slab"/>
                <a:ea typeface="Hepta Slab"/>
                <a:cs typeface="Hepta Slab"/>
                <a:sym typeface="Hepta Slab"/>
              </a:rPr>
            </a:b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Prior rumor models suggest epidemic dynamics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Logic</a:t>
            </a:r>
            <a:endParaRPr sz="2000"/>
          </a:p>
        </p:txBody>
      </p:sp>
      <p:sp>
        <p:nvSpPr>
          <p:cNvPr id="346" name="Google Shape;346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If misinformation spreads through </a:t>
            </a:r>
            <a:r>
              <a:rPr i="1" lang="en" sz="1600">
                <a:latin typeface="Hepta Slab"/>
                <a:ea typeface="Hepta Slab"/>
                <a:cs typeface="Hepta Slab"/>
                <a:sym typeface="Hepta Slab"/>
              </a:rPr>
              <a:t>structural reinforcement</a:t>
            </a: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, then: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Local clusters enable repeated exposure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Influential hubs accelerate propagation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Once exposure exceeds a threshold → global cascade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pta Slab"/>
              <a:buChar char="●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Tipping points arise naturally from connectivity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 What We Test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Construct synthetic networks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Simulate misinformation spread across 10 propagation rounds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Record adoption curves A(p)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Fit logistic regression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Identify inflection point p₀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Determine tipping point pₜ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b="1" lang="en" sz="1600">
                <a:latin typeface="Hepta Slab"/>
                <a:ea typeface="Hepta Slab"/>
                <a:cs typeface="Hepta Slab"/>
                <a:sym typeface="Hepta Slab"/>
              </a:rPr>
              <a:t>Compare ER vs. BA behavior</a:t>
            </a:r>
            <a:endParaRPr b="1"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Social Networks: Data Generation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58" name="Google Shape;358;p52"/>
          <p:cNvSpPr txBox="1"/>
          <p:nvPr>
            <p:ph idx="1" type="body"/>
          </p:nvPr>
        </p:nvSpPr>
        <p:spPr>
          <a:xfrm>
            <a:off x="311700" y="951275"/>
            <a:ext cx="4574700" cy="3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Erdős–Rényi (ER) Network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The ER model represents decentralized social environments where all users have similar influence.</a:t>
            </a:r>
            <a:br>
              <a:rPr lang="en">
                <a:latin typeface="Hepta Slab"/>
                <a:ea typeface="Hepta Slab"/>
                <a:cs typeface="Hepta Slab"/>
                <a:sym typeface="Hepta Slab"/>
              </a:rPr>
            </a:b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Its structure includes: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No hubs or influencer nodes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Connections are distributed evenly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Information spreads uniformly but weakly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9" name="Google Shape;359;p52"/>
          <p:cNvSpPr txBox="1"/>
          <p:nvPr>
            <p:ph idx="1" type="body"/>
          </p:nvPr>
        </p:nvSpPr>
        <p:spPr>
          <a:xfrm>
            <a:off x="4886400" y="879725"/>
            <a:ext cx="4158300" cy="3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Barabási–Albert (BA) Network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The BA model represents real social media platforms dominated by influencers.</a:t>
            </a:r>
            <a:br>
              <a:rPr lang="en">
                <a:latin typeface="Hepta Slab"/>
                <a:ea typeface="Hepta Slab"/>
                <a:cs typeface="Hepta Slab"/>
                <a:sym typeface="Hepta Slab"/>
              </a:rPr>
            </a:b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Its structure includes: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Highly connected hubs (super-spreaders)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Strong community and clustering patterns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Very short average path lengths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360" name="Google Shape;360;p52" title="Screenshot 2025-12-04 at 2.38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325" y="1524450"/>
            <a:ext cx="2001334" cy="4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2" title="Screenshot 2025-12-04 at 2.41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4100" y="1337575"/>
            <a:ext cx="1379475" cy="62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Diffusion Model</a:t>
            </a:r>
            <a:endParaRPr sz="2000"/>
          </a:p>
        </p:txBody>
      </p:sp>
      <p:sp>
        <p:nvSpPr>
          <p:cNvPr id="367" name="Google Shape;36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Propagation rules per round: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Node is exposed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Node shares with probability p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Neighbors become exposed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Repeat for 10 rounds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pta Slab"/>
              <a:buAutoNum type="arabicPeriod"/>
            </a:pPr>
            <a:r>
              <a:rPr lang="en" sz="1600">
                <a:latin typeface="Hepta Slab"/>
                <a:ea typeface="Hepta Slab"/>
                <a:cs typeface="Hepta Slab"/>
                <a:sym typeface="Hepta Slab"/>
              </a:rPr>
              <a:t>Record A(p) = % adopting misinformation</a:t>
            </a:r>
            <a:endParaRPr sz="1600"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53" title="Screenshot 2025-12-04 at 3.50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575" y="3383587"/>
            <a:ext cx="6806851" cy="11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Tipping Point Definition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4"/>
          <p:cNvSpPr txBox="1"/>
          <p:nvPr>
            <p:ph idx="1" type="body"/>
          </p:nvPr>
        </p:nvSpPr>
        <p:spPr>
          <a:xfrm>
            <a:off x="311700" y="916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pₜ = minimum p such that A(p) ≥ 80% by round 10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Why 80%?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80% = Global Cascade, Represents network-wide spread, not just local diffusion.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Clear Separation Between ER and BA, BA reaches 80% earlier due to hubs; ER requires higher p.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Stable and Widely Used Threshold, 80% avoids noise and matches definitions of “large-scale cascades” in network studies.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Sources: Watts (2002), Centola (2010), Daley &amp; Kendall (1964)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pic>
        <p:nvPicPr>
          <p:cNvPr id="375" name="Google Shape;375;p54" title="Screenshot 2025-12-04 at 8.03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625" y="1017725"/>
            <a:ext cx="3946750" cy="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Logistic Model</a:t>
            </a:r>
            <a:endParaRPr sz="20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55" title="Screenshot 2025-12-04 at 8.21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5692077" cy="258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2225" y="1152475"/>
            <a:ext cx="3960077" cy="29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Statistical Analysis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6"/>
          <p:cNvSpPr txBox="1"/>
          <p:nvPr>
            <p:ph idx="1" type="body"/>
          </p:nvPr>
        </p:nvSpPr>
        <p:spPr>
          <a:xfrm>
            <a:off x="311700" y="1172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p₀ = maximum derivative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Serves as estimate of tipping point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Confirms nonlinear phase transition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</p:txBody>
      </p:sp>
      <p:pic>
        <p:nvPicPr>
          <p:cNvPr id="390" name="Google Shape;390;p56" title="Screenshot 2025-12-05 at 8.12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926" y="2185050"/>
            <a:ext cx="6163501" cy="279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Social Networks: Data Generation (continue)</a:t>
            </a:r>
            <a:endParaRPr/>
          </a:p>
        </p:txBody>
      </p:sp>
      <p:sp>
        <p:nvSpPr>
          <p:cNvPr id="396" name="Google Shape;39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ER Network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Higher pₜ (~0.22)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No major hubs → slower spread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BA Network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Lower pₜ (~0.18)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Influencers rapidly amplify misinformation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57" title="Screenshot 2025-12-04 at 4.10.4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2399"/>
            <a:ext cx="3504850" cy="7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7475" y="891551"/>
            <a:ext cx="4060102" cy="30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Scaling &amp; Clustering Effects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Higher clustering → delayed tipping point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But once breached → faster cascades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Larger networks produce smoother but consistent thresholds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58" title="Screenshot 2025-12-05 at 8.19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6750" y="2330800"/>
            <a:ext cx="2950501" cy="23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Model Validation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Compared with: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Hepta Slab"/>
              <a:buChar char="●"/>
            </a:pPr>
            <a:r>
              <a:rPr lang="en">
                <a:solidFill>
                  <a:srgbClr val="FFFF00"/>
                </a:solidFill>
                <a:latin typeface="Hepta Slab"/>
                <a:ea typeface="Hepta Slab"/>
                <a:cs typeface="Hepta Slab"/>
                <a:sym typeface="Hepta Slab"/>
              </a:rPr>
              <a:t>FakeNews Simulator</a:t>
            </a:r>
            <a:endParaRPr>
              <a:solidFill>
                <a:srgbClr val="FFFF00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Hepta Slab"/>
              <a:buChar char="●"/>
            </a:pPr>
            <a:r>
              <a:rPr lang="en">
                <a:solidFill>
                  <a:srgbClr val="FFFF00"/>
                </a:solidFill>
                <a:latin typeface="Hepta Slab"/>
                <a:ea typeface="Hepta Slab"/>
                <a:cs typeface="Hepta Slab"/>
                <a:sym typeface="Hepta Slab"/>
              </a:rPr>
              <a:t>Fake-News-Network-Modeling</a:t>
            </a:r>
            <a:endParaRPr>
              <a:solidFill>
                <a:srgbClr val="FFFF00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Findings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Hepta Slab"/>
              <a:buChar char="●"/>
            </a:pPr>
            <a:r>
              <a:rPr lang="en">
                <a:solidFill>
                  <a:srgbClr val="FFFF00"/>
                </a:solidFill>
                <a:latin typeface="Hepta Slab"/>
                <a:ea typeface="Hepta Slab"/>
                <a:cs typeface="Hepta Slab"/>
                <a:sym typeface="Hepta Slab"/>
              </a:rPr>
              <a:t>Same nonlinear curve shapes</a:t>
            </a:r>
            <a:endParaRPr>
              <a:solidFill>
                <a:srgbClr val="FFFF00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Hepta Slab"/>
              <a:buChar char="●"/>
            </a:pPr>
            <a:r>
              <a:rPr lang="en">
                <a:solidFill>
                  <a:srgbClr val="FFFF00"/>
                </a:solidFill>
                <a:latin typeface="Hepta Slab"/>
                <a:ea typeface="Hepta Slab"/>
                <a:cs typeface="Hepta Slab"/>
                <a:sym typeface="Hepta Slab"/>
              </a:rPr>
              <a:t>Similar tipping thresholds</a:t>
            </a:r>
            <a:endParaRPr>
              <a:solidFill>
                <a:srgbClr val="FFFF00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Hepta Slab"/>
              <a:buChar char="●"/>
            </a:pPr>
            <a:r>
              <a:rPr lang="en">
                <a:solidFill>
                  <a:srgbClr val="FFFF00"/>
                </a:solidFill>
                <a:latin typeface="Hepta Slab"/>
                <a:ea typeface="Hepta Slab"/>
                <a:cs typeface="Hepta Slab"/>
                <a:sym typeface="Hepta Slab"/>
              </a:rPr>
              <a:t>Confirms robustness of simulation</a:t>
            </a:r>
            <a:endParaRPr>
              <a:solidFill>
                <a:srgbClr val="FFFF00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/>
              <a:t>What It Means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17" name="Google Shape;41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Key Insight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Misinformation is not linear. It spreads through a phase transition governed by network structure.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Implications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Small increases in p can cause massive cascades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Influencer-driven networks are structurally fragile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Early-warning systems can monitor p → pₜ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1"/>
          <p:cNvSpPr txBox="1"/>
          <p:nvPr>
            <p:ph type="title"/>
          </p:nvPr>
        </p:nvSpPr>
        <p:spPr>
          <a:xfrm>
            <a:off x="311700" y="425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Limitation</a:t>
            </a:r>
            <a:endParaRPr sz="2000"/>
          </a:p>
        </p:txBody>
      </p:sp>
      <p:sp>
        <p:nvSpPr>
          <p:cNvPr id="423" name="Google Shape;423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Synthetic networks only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Equal user susceptibility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No algorithmic amplification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No temporal evolution in network edges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Future Work</a:t>
            </a:r>
            <a:endParaRPr sz="2000"/>
          </a:p>
        </p:txBody>
      </p:sp>
      <p:sp>
        <p:nvSpPr>
          <p:cNvPr id="429" name="Google Shape;42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AutoNum type="arabicPeriod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Use real-world Twitter/Reddit datasets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AutoNum type="arabicPeriod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Introduce heterogeneous user susceptibility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AutoNum type="arabicPeriod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Model recommender algorithms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AutoNum type="arabicPeriod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Extend to temporal and multilayer networks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3"/>
          <p:cNvSpPr txBox="1"/>
          <p:nvPr>
            <p:ph type="title"/>
          </p:nvPr>
        </p:nvSpPr>
        <p:spPr>
          <a:xfrm>
            <a:off x="311700" y="43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Conclusion</a:t>
            </a:r>
            <a:endParaRPr sz="2000"/>
          </a:p>
        </p:txBody>
      </p:sp>
      <p:sp>
        <p:nvSpPr>
          <p:cNvPr id="435" name="Google Shape;435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Misinformation diffusion is: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Nonlinear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Topology-dependent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Governed by a critical tipping point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pta Slab"/>
              <a:buChar char="●"/>
            </a:pPr>
            <a:r>
              <a:t/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Structural insight: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Hepta Slab"/>
              <a:buChar char="●"/>
            </a:pPr>
            <a:r>
              <a:rPr lang="en">
                <a:latin typeface="Hepta Slab"/>
                <a:ea typeface="Hepta Slab"/>
                <a:cs typeface="Hepta Slab"/>
                <a:sym typeface="Hepta Slab"/>
              </a:rPr>
              <a:t>“Misinformation, fundamentally, is a network-driven phase transition.”</a:t>
            </a:r>
            <a:endParaRPr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References</a:t>
            </a:r>
            <a:endParaRPr sz="2000"/>
          </a:p>
        </p:txBody>
      </p:sp>
      <p:sp>
        <p:nvSpPr>
          <p:cNvPr id="441" name="Google Shape;441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"/>
                <a:ea typeface="Times"/>
                <a:cs typeface="Times"/>
                <a:sym typeface="Times"/>
              </a:rPr>
              <a:t>A Simple Model of Global Cascades on Random Networks — D. J. Watts (2002):</a:t>
            </a:r>
            <a:r>
              <a:rPr lang="en" sz="1200">
                <a:uFill>
                  <a:noFill/>
                </a:uFill>
                <a:latin typeface="Times"/>
                <a:ea typeface="Times"/>
                <a:cs typeface="Times"/>
                <a:sym typeface="Times"/>
                <a:hlinkClick r:id="rId3"/>
              </a:rPr>
              <a:t> </a:t>
            </a:r>
            <a:r>
              <a:rPr lang="en" sz="1200" u="sng">
                <a:latin typeface="Times"/>
                <a:ea typeface="Times"/>
                <a:cs typeface="Times"/>
                <a:sym typeface="Times"/>
                <a:hlinkClick r:id="rId4"/>
              </a:rPr>
              <a:t>https://www.pnas.org/doi/10.1073/pnas.082090499</a:t>
            </a:r>
            <a:r>
              <a:rPr lang="en" sz="12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" sz="1200" u="sng">
                <a:latin typeface="Times"/>
                <a:ea typeface="Times"/>
                <a:cs typeface="Times"/>
                <a:sym typeface="Times"/>
                <a:hlinkClick r:id="rId5"/>
              </a:rPr>
              <a:t>PNAS</a:t>
            </a:r>
            <a:r>
              <a:rPr lang="en" sz="1200"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"/>
                <a:ea typeface="Times"/>
                <a:cs typeface="Times"/>
                <a:sym typeface="Times"/>
              </a:rPr>
              <a:t>The Spread of Behavior in an Online Social Network Experiment — D. Centola (2010):</a:t>
            </a:r>
            <a:r>
              <a:rPr lang="en" sz="1200">
                <a:uFill>
                  <a:noFill/>
                </a:uFill>
                <a:latin typeface="Times"/>
                <a:ea typeface="Times"/>
                <a:cs typeface="Times"/>
                <a:sym typeface="Times"/>
                <a:hlinkClick r:id="rId6"/>
              </a:rPr>
              <a:t> </a:t>
            </a:r>
            <a:r>
              <a:rPr lang="en" sz="1200" u="sng">
                <a:latin typeface="Times"/>
                <a:ea typeface="Times"/>
                <a:cs typeface="Times"/>
                <a:sym typeface="Times"/>
                <a:hlinkClick r:id="rId7"/>
              </a:rPr>
              <a:t>https://www.science.org/doi/10.1126/science.1185231</a:t>
            </a:r>
            <a:r>
              <a:rPr lang="en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" sz="1200">
                <a:latin typeface="Times"/>
                <a:ea typeface="Times"/>
                <a:cs typeface="Times"/>
                <a:sym typeface="Times"/>
              </a:rPr>
              <a:t>(use your institution or library to access full-text if paywalled)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"/>
                <a:ea typeface="Times"/>
                <a:cs typeface="Times"/>
                <a:sym typeface="Times"/>
              </a:rPr>
              <a:t>FakeNews Simulator (GitHub):</a:t>
            </a:r>
            <a:r>
              <a:rPr lang="en" sz="1200">
                <a:uFill>
                  <a:noFill/>
                </a:uFill>
                <a:latin typeface="Times"/>
                <a:ea typeface="Times"/>
                <a:cs typeface="Times"/>
                <a:sym typeface="Times"/>
                <a:hlinkClick r:id="rId8"/>
              </a:rPr>
              <a:t> </a:t>
            </a:r>
            <a:r>
              <a:rPr lang="en" sz="1200" u="sng">
                <a:latin typeface="Times"/>
                <a:ea typeface="Times"/>
                <a:cs typeface="Times"/>
                <a:sym typeface="Times"/>
                <a:hlinkClick r:id="rId9"/>
              </a:rPr>
              <a:t>https://github.com/FraLotito/fakenews_simulator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Times"/>
                <a:ea typeface="Times"/>
                <a:cs typeface="Times"/>
                <a:sym typeface="Times"/>
              </a:rPr>
              <a:t>Fake‑News‑Network‑Modeling (GitHub):</a:t>
            </a:r>
            <a:r>
              <a:rPr lang="en" sz="1200">
                <a:uFill>
                  <a:noFill/>
                </a:uFill>
                <a:latin typeface="Times"/>
                <a:ea typeface="Times"/>
                <a:cs typeface="Times"/>
                <a:sym typeface="Times"/>
                <a:hlinkClick r:id="rId10"/>
              </a:rPr>
              <a:t> </a:t>
            </a:r>
            <a:r>
              <a:rPr lang="en" sz="1200" u="sng">
                <a:latin typeface="Times"/>
                <a:ea typeface="Times"/>
                <a:cs typeface="Times"/>
                <a:sym typeface="Times"/>
                <a:hlinkClick r:id="rId11"/>
              </a:rPr>
              <a:t>https://github.com/kymry/Fake-News-Network-Modeling</a:t>
            </a:r>
            <a:br>
              <a:rPr lang="en" sz="1600" u="sng">
                <a:latin typeface="Hepta Slab"/>
                <a:ea typeface="Hepta Slab"/>
                <a:cs typeface="Hepta Slab"/>
                <a:sym typeface="Hepta Slab"/>
                <a:hlinkClick r:id="rId12"/>
              </a:rPr>
            </a:br>
            <a:endParaRPr sz="1600"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